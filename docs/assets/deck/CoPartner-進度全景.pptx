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今天講一個我做了幾個月的 side project。它不是聊天機器人——它是一個看著你工作的助理。你不用跟它解釋你在幹嘛，因為它一直在旁邊看。而且它已經會真的動手——執行命令與操作 UI 都已經在真機上驗過。
全場只要記得這三個數字：94% 完成度、18% OCR 吞吐、595 個測試。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每次要 AI 幫忙，最花時間的不是它回答，是你解釋。CoPartner 的賭注是：如果它從頭看到尾，你就一句話都不用說。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注意它說的不是「我可以幫你什麼」，而是接續你沒做完的那件事。這叫 open loop——設計文件裡的正式名詞。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三個字概括：省、清、快。省是省 CPU，清是給人看，快是省你的嘴。這頁可以當全場地圖，後面每一段都掛在這三個字底下。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定頻全螢幕截圖加全螢幕 OCR，在 24GB 的 M4 上長時間跑，光影片區就燙手。所以第一個決定就是：不要全部看。
左邊這張圖就是實際的擷取策略——亮的區塊高解析高頻，暗的低解析低頻。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你要它接手，它需要知道的不是畫面長什麼樣，是你為什麼走到這一步。
左邊是真實的輸出格式：L0 是模板產的、完全確定性；L1 是本地 3B 推測意圖；L2 滾動彙總成段落。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四道閘任何一道都能單獨擋下來。重點在最後一段——動作是在另一個程序裡、在沙箱裡、用 argv 直呼執行的，全程沒有一個 shell。
還有一個獨立的 kill-switch，作廢整個世代的授權，不是只停下一個動作。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94% 這個數字要小心解讀。剩下的四項全部是要真機、真權限、真 GPU 才能驗的東西——沒有任何一行「CI 能驗但還沒寫」的邏輯欠著。
綠色是完成，琥珀色是進行中，空格是待驗收。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測試比 0.72——每三行程式碼配兩行測試。這不是為了好看，是因為我沒有 Mac，測試是唯一能自主判定「這步做完了」的方式。下一頁講這件事。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這不是巧思，是被逼出來的。但逼出來的結果是——每一個平台依賴都變成一個明確的注入點，我永遠知道「哪裡還沒接真的」。
94% 的工作是在沒有真機的情況下被驗證過的。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螢幕上出現的任何指令都是不可信的——那可能是別人放在網頁上騙模型的。所以防線必須在模型之外，而且最好是編譯器保證，不是靠紀律。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翻開執行能力那一行單獨成立一個 PR——這件事本身就是設計的一部分。
還有一個細節：驗收判定是「stdout 裡有那串隨機標記」，不是 didExecute == true。因為沙箱擋掉讀取時 cat 照樣會結束、didExecute 照樣為真，stdout 卻是空的。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隱私不是一道牆，是五層。密碼欄在寫進劇本之前就遮掉了——不是存起來再過濾。
最後那句「刻意的不做」我覺得最重要：截圖功能拿掉，是因為留著它就等於在出境閘門旁邊開一個後門。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這五個沒有一個是 CI 抓得到的。第一個尤其可怕——所有測試都是綠的，因為測試餵的是乾淨資料。真機餵的不是。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這頁我最想講的不是那個 bug，是診斷過程。七輪裡我三次以為自己找到答案，三次都被下一份資料推翻。
共通點是：我拿一個看起來像資料的東西（斜率）當結論，但那個斜率的算法本身有問題。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「0 無效」那一欄是重點。它代表正向基準真的跑起來了，所以負向結果才有意義。少了它，一個什麼都擋的 profile 會通過每一條負向測試。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這頁想講的是怎麼對待一個訂錯的目標。不是硬調參數調到天亮，是算一次數學，然後帶著理由去改目標。
使用者裁決維持資訊量——寧可慢一點，也不要失去 inferredGoal。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左邊六項都在真機上驗過了——執行端整條鏈是通的。
右邊剩的其實只有一件事的兩面：提議的來源還是本地合成的，接上真雲端之後才輪得到驗「Claude 有沒有正確續寫」。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我把不確定的東西列出來，不是為了免責，是因為知道哪裡不確定本身就是進度。
上面兩條（琥珀色）特別重要——那是我原本寫在設計文件裡、被真機實測推翻的假設。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三句話收尾：它已經會看了——M0／M2／M2.5／M4 真機通過。它已經會動了——沙箱執行端建成、開關翻開。接下來是讓它離開電腦。
最後一句：這個專案真正在賭的是一件事——AI 助理的瓶頸不是模型有多聰明，是它知不知道你在幹嘛。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82296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3" name="Shape 1"/>
          <p:cNvSpPr/>
          <p:nvPr/>
        </p:nvSpPr>
        <p:spPr>
          <a:xfrm>
            <a:off x="9198864" y="82296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4" name="Shape 2"/>
          <p:cNvSpPr/>
          <p:nvPr/>
        </p:nvSpPr>
        <p:spPr>
          <a:xfrm>
            <a:off x="9665208" y="82296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5" name="Shape 3"/>
          <p:cNvSpPr/>
          <p:nvPr/>
        </p:nvSpPr>
        <p:spPr>
          <a:xfrm>
            <a:off x="10131552" y="82296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6" name="Shape 4"/>
          <p:cNvSpPr/>
          <p:nvPr/>
        </p:nvSpPr>
        <p:spPr>
          <a:xfrm>
            <a:off x="10597896" y="82296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1289304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8" name="Shape 6"/>
          <p:cNvSpPr/>
          <p:nvPr/>
        </p:nvSpPr>
        <p:spPr>
          <a:xfrm>
            <a:off x="9198864" y="1289304"/>
            <a:ext cx="384048" cy="384048"/>
          </a:xfrm>
          <a:prstGeom prst="roundRect">
            <a:avLst>
              <a:gd name="adj" fmla="val 4762"/>
            </a:avLst>
          </a:prstGeom>
          <a:solidFill>
            <a:srgbClr val="6B4A17"/>
          </a:solidFill>
          <a:ln/>
        </p:spPr>
      </p:sp>
      <p:sp>
        <p:nvSpPr>
          <p:cNvPr id="9" name="Shape 7"/>
          <p:cNvSpPr/>
          <p:nvPr/>
        </p:nvSpPr>
        <p:spPr>
          <a:xfrm>
            <a:off x="9665208" y="1289304"/>
            <a:ext cx="384048" cy="384048"/>
          </a:xfrm>
          <a:prstGeom prst="roundRect">
            <a:avLst>
              <a:gd name="adj" fmla="val 4762"/>
            </a:avLst>
          </a:prstGeom>
          <a:solidFill>
            <a:srgbClr val="E0A24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31552" y="1289304"/>
            <a:ext cx="384048" cy="384048"/>
          </a:xfrm>
          <a:prstGeom prst="roundRect">
            <a:avLst>
              <a:gd name="adj" fmla="val 4762"/>
            </a:avLst>
          </a:prstGeom>
          <a:solidFill>
            <a:srgbClr val="6B4A17"/>
          </a:solidFill>
          <a:ln/>
        </p:spPr>
      </p:sp>
      <p:sp>
        <p:nvSpPr>
          <p:cNvPr id="11" name="Shape 9"/>
          <p:cNvSpPr/>
          <p:nvPr/>
        </p:nvSpPr>
        <p:spPr>
          <a:xfrm>
            <a:off x="10597896" y="1289304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732520" y="1755648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98864" y="1755648"/>
            <a:ext cx="384048" cy="384048"/>
          </a:xfrm>
          <a:prstGeom prst="roundRect">
            <a:avLst>
              <a:gd name="adj" fmla="val 4762"/>
            </a:avLst>
          </a:prstGeom>
          <a:solidFill>
            <a:srgbClr val="6B4A17"/>
          </a:solidFill>
          <a:ln/>
        </p:spPr>
      </p:sp>
      <p:sp>
        <p:nvSpPr>
          <p:cNvPr id="14" name="Shape 12"/>
          <p:cNvSpPr/>
          <p:nvPr/>
        </p:nvSpPr>
        <p:spPr>
          <a:xfrm>
            <a:off x="9665208" y="1755648"/>
            <a:ext cx="384048" cy="384048"/>
          </a:xfrm>
          <a:prstGeom prst="roundRect">
            <a:avLst>
              <a:gd name="adj" fmla="val 4762"/>
            </a:avLst>
          </a:prstGeom>
          <a:solidFill>
            <a:srgbClr val="6B4A1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31552" y="1755648"/>
            <a:ext cx="384048" cy="384048"/>
          </a:xfrm>
          <a:prstGeom prst="roundRect">
            <a:avLst>
              <a:gd name="adj" fmla="val 4762"/>
            </a:avLst>
          </a:prstGeom>
          <a:solidFill>
            <a:srgbClr val="6B4A1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97896" y="1755648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8732520" y="2221992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9198864" y="2221992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9665208" y="2221992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31552" y="2221992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97896" y="2221992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027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117043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0A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MACOS AMBIENT ASSISTANT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148132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CoPartner</a:t>
            </a:r>
            <a:endParaRPr lang="en-US" sz="60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487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一個會看著你工作、然後接手做完的 Mac 助理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0540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B9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不用跟它解釋你在幹嘛，因為它一直在旁邊看。而且從三週前開始，它會真的動手。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0416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4626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完成度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64408" y="40416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3264408" y="4626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像素吞吐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61888" y="40416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5961888" y="4626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XCTest 案例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@ 3f14bb6  ·  2026-09-03  ·  50 個 PR 已合併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助理最貴的成本，是重新解釋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46040" cy="3931920"/>
          </a:xfrm>
          <a:prstGeom prst="roundRect">
            <a:avLst>
              <a:gd name="adj" fmla="val 1163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78728" y="1874520"/>
            <a:ext cx="5346040" cy="3931920"/>
          </a:xfrm>
          <a:prstGeom prst="roundRect">
            <a:avLst>
              <a:gd name="adj" fmla="val 1163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12264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974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現在的 AI 助理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53048" y="2112264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64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CoPartner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60904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你開一個新對話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660904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它一直開著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419856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貼程式碼、貼錯誤、打一段背景說明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419856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它已經看了你剛才三十分鐘做的每一步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178808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它從零開始猜你要幹嘛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4178808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它有你的因果史，直接續寫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937760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你花 3 分鐘描述上下文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937760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你按一個熱鍵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設計錨點場景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一個下午的 open loop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EDEF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828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709928" y="1801368"/>
            <a:ext cx="9914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 Xcode 改一個 WebSocket 重連邏輯，寫到一半去查文件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487168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EDEF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4871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09928" y="2459736"/>
            <a:ext cx="9914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你切到瀏覽器、開了三個分頁、複製了一段程式碼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145536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EDEF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145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09928" y="3118104"/>
            <a:ext cx="9914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你切回 Xcode，游標停在那個沒寫完的函式上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3858768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A964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858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709928" y="3831336"/>
            <a:ext cx="9914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你按下 ⌃⌥⌘Space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709928" y="4425696"/>
            <a:ext cx="9914839" cy="1298448"/>
          </a:xfrm>
          <a:prstGeom prst="roundRect">
            <a:avLst>
              <a:gd name="adj" fmla="val 3521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84248" y="4608576"/>
            <a:ext cx="93661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7A47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「你在改 reconnect 的退避邏輯，剛查了指數退避的實作。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7A47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下一步：把你複製的那段套進 line 84 的 TODO。要我做嗎？」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三大理念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省、清、快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省是省 CPU，清是給人看，快是省你的嘴——每一項都已經有真機數字，不是設計文件裡的願望。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67712"/>
            <a:ext cx="3503066" cy="3520440"/>
          </a:xfrm>
          <a:prstGeom prst="roundRect">
            <a:avLst>
              <a:gd name="adj" fmla="val 1305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2374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CAPTURE ENGINE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98064"/>
            <a:ext cx="29910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看得省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28416"/>
            <a:ext cx="2991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不做定頻全畫面截圖。滑鼠與焦點區高解析高頻、周邊低解析低頻（借人眼中央窩），只對「變動的 tile」細看（借 KVM-over-IP／VNC 的增量更新）。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4865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CPU  9%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4314" y="2267712"/>
            <a:ext cx="3503066" cy="3520440"/>
          </a:xfrm>
          <a:prstGeom prst="roundRect">
            <a:avLst>
              <a:gd name="adj" fmla="val 1305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0346" y="252374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SCRIPT NARRATOR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600346" y="2798064"/>
            <a:ext cx="29910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記得清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00346" y="3328416"/>
            <a:ext cx="2991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截圖是單一瞬間，劇本是因果史。三層滾動彙總：L0 模板（零模型）→ L1 本地 3B → L2 段落摘要。階梯會回報自己用了哪一層。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00346" y="524865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延遲  1373–2388ms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1701" y="2267712"/>
            <a:ext cx="3503066" cy="3520440"/>
          </a:xfrm>
          <a:prstGeom prst="roundRect">
            <a:avLst>
              <a:gd name="adj" fmla="val 1305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7733" y="252374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TAKEOVER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77733" y="2798064"/>
            <a:ext cx="29910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交棒快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77733" y="3328416"/>
            <a:ext cx="2991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⌃⌥⌘Space，把因果史交給 Claude computer-use 續寫你沒做完的 open loop。回來的每個動作都是不可信提議，要過四道閘。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77733" y="524865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兩種執行能力都已真機驗過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看得省 · Smart Capture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不要全部看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38912" y="1700784"/>
            <a:ext cx="45720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288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18288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7" name="Shape 5"/>
          <p:cNvSpPr/>
          <p:nvPr/>
        </p:nvSpPr>
        <p:spPr>
          <a:xfrm>
            <a:off x="1664208" y="18288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8" name="Shape 6"/>
          <p:cNvSpPr/>
          <p:nvPr/>
        </p:nvSpPr>
        <p:spPr>
          <a:xfrm>
            <a:off x="2212848" y="18288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9" name="Shape 7"/>
          <p:cNvSpPr/>
          <p:nvPr/>
        </p:nvSpPr>
        <p:spPr>
          <a:xfrm>
            <a:off x="2761488" y="18288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8288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11" name="Shape 9"/>
          <p:cNvSpPr/>
          <p:nvPr/>
        </p:nvSpPr>
        <p:spPr>
          <a:xfrm>
            <a:off x="3858768" y="18288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7408" y="18288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37744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" y="237744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64208" y="237744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16" name="Shape 14"/>
          <p:cNvSpPr/>
          <p:nvPr/>
        </p:nvSpPr>
        <p:spPr>
          <a:xfrm>
            <a:off x="2212848" y="237744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17" name="Shape 15"/>
          <p:cNvSpPr/>
          <p:nvPr/>
        </p:nvSpPr>
        <p:spPr>
          <a:xfrm>
            <a:off x="2761488" y="237744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18" name="Shape 16"/>
          <p:cNvSpPr/>
          <p:nvPr/>
        </p:nvSpPr>
        <p:spPr>
          <a:xfrm>
            <a:off x="3310128" y="237744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858768" y="237744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20" name="Shape 18"/>
          <p:cNvSpPr/>
          <p:nvPr/>
        </p:nvSpPr>
        <p:spPr>
          <a:xfrm>
            <a:off x="4407408" y="237744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292608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5568" y="292608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664208" y="292608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24" name="Shape 22"/>
          <p:cNvSpPr/>
          <p:nvPr/>
        </p:nvSpPr>
        <p:spPr>
          <a:xfrm>
            <a:off x="2212848" y="292608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A9640B"/>
          </a:solidFill>
          <a:ln/>
        </p:spPr>
      </p:sp>
      <p:sp>
        <p:nvSpPr>
          <p:cNvPr id="25" name="Shape 23"/>
          <p:cNvSpPr/>
          <p:nvPr/>
        </p:nvSpPr>
        <p:spPr>
          <a:xfrm>
            <a:off x="2761488" y="292608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A9640B"/>
          </a:solidFill>
          <a:ln/>
        </p:spPr>
      </p:sp>
      <p:sp>
        <p:nvSpPr>
          <p:cNvPr id="26" name="Shape 24"/>
          <p:cNvSpPr/>
          <p:nvPr/>
        </p:nvSpPr>
        <p:spPr>
          <a:xfrm>
            <a:off x="3310128" y="292608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27" name="Shape 25"/>
          <p:cNvSpPr/>
          <p:nvPr/>
        </p:nvSpPr>
        <p:spPr>
          <a:xfrm>
            <a:off x="3858768" y="292608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28" name="Shape 26"/>
          <p:cNvSpPr/>
          <p:nvPr/>
        </p:nvSpPr>
        <p:spPr>
          <a:xfrm>
            <a:off x="4407408" y="292608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5568" y="347472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664208" y="347472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32" name="Shape 30"/>
          <p:cNvSpPr/>
          <p:nvPr/>
        </p:nvSpPr>
        <p:spPr>
          <a:xfrm>
            <a:off x="2212848" y="347472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A9640B"/>
          </a:solidFill>
          <a:ln/>
        </p:spPr>
      </p:sp>
      <p:sp>
        <p:nvSpPr>
          <p:cNvPr id="33" name="Shape 31"/>
          <p:cNvSpPr/>
          <p:nvPr/>
        </p:nvSpPr>
        <p:spPr>
          <a:xfrm>
            <a:off x="2761488" y="347472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A9640B"/>
          </a:solidFill>
          <a:ln/>
        </p:spPr>
      </p:sp>
      <p:sp>
        <p:nvSpPr>
          <p:cNvPr id="34" name="Shape 32"/>
          <p:cNvSpPr/>
          <p:nvPr/>
        </p:nvSpPr>
        <p:spPr>
          <a:xfrm>
            <a:off x="3310128" y="347472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35" name="Shape 33"/>
          <p:cNvSpPr/>
          <p:nvPr/>
        </p:nvSpPr>
        <p:spPr>
          <a:xfrm>
            <a:off x="3858768" y="347472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36" name="Shape 34"/>
          <p:cNvSpPr/>
          <p:nvPr/>
        </p:nvSpPr>
        <p:spPr>
          <a:xfrm>
            <a:off x="4407408" y="347472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928" y="402336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5568" y="402336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664208" y="402336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40" name="Shape 38"/>
          <p:cNvSpPr/>
          <p:nvPr/>
        </p:nvSpPr>
        <p:spPr>
          <a:xfrm>
            <a:off x="2212848" y="402336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41" name="Shape 39"/>
          <p:cNvSpPr/>
          <p:nvPr/>
        </p:nvSpPr>
        <p:spPr>
          <a:xfrm>
            <a:off x="2761488" y="402336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42" name="Shape 40"/>
          <p:cNvSpPr/>
          <p:nvPr/>
        </p:nvSpPr>
        <p:spPr>
          <a:xfrm>
            <a:off x="3310128" y="402336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F6ECD9"/>
          </a:solidFill>
          <a:ln/>
        </p:spPr>
      </p:sp>
      <p:sp>
        <p:nvSpPr>
          <p:cNvPr id="43" name="Shape 41"/>
          <p:cNvSpPr/>
          <p:nvPr/>
        </p:nvSpPr>
        <p:spPr>
          <a:xfrm>
            <a:off x="3858768" y="402336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44" name="Shape 42"/>
          <p:cNvSpPr/>
          <p:nvPr/>
        </p:nvSpPr>
        <p:spPr>
          <a:xfrm>
            <a:off x="4407408" y="402336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45" name="Shape 43"/>
          <p:cNvSpPr/>
          <p:nvPr/>
        </p:nvSpPr>
        <p:spPr>
          <a:xfrm>
            <a:off x="566928" y="45720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46" name="Shape 44"/>
          <p:cNvSpPr/>
          <p:nvPr/>
        </p:nvSpPr>
        <p:spPr>
          <a:xfrm>
            <a:off x="1115568" y="45720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47" name="Shape 45"/>
          <p:cNvSpPr/>
          <p:nvPr/>
        </p:nvSpPr>
        <p:spPr>
          <a:xfrm>
            <a:off x="1664208" y="45720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212848" y="45720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761488" y="45720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50" name="Shape 48"/>
          <p:cNvSpPr/>
          <p:nvPr/>
        </p:nvSpPr>
        <p:spPr>
          <a:xfrm>
            <a:off x="3310128" y="45720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51" name="Shape 49"/>
          <p:cNvSpPr/>
          <p:nvPr/>
        </p:nvSpPr>
        <p:spPr>
          <a:xfrm>
            <a:off x="3858768" y="45720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52" name="Shape 50"/>
          <p:cNvSpPr/>
          <p:nvPr/>
        </p:nvSpPr>
        <p:spPr>
          <a:xfrm>
            <a:off x="4407408" y="4572000"/>
            <a:ext cx="475488" cy="475488"/>
          </a:xfrm>
          <a:prstGeom prst="roundRect">
            <a:avLst>
              <a:gd name="adj" fmla="val 3846"/>
            </a:avLst>
          </a:prstGeom>
          <a:solidFill>
            <a:srgbClr val="EDEFE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66928" y="52669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亮的是你在看的，暗的是周邊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13248" y="189280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A9640B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687568" y="1828800"/>
            <a:ext cx="5937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中央窩成像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5687568" y="2112264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滑鼠與焦點區高解析高頻，周邊低解析低頻——人眼就是這樣運作的。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5413248" y="2825496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A9640B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5687568" y="2761488"/>
            <a:ext cx="5937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增量更新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687568" y="3044952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借鏡 KVM-over-IP／VNC，只處理「變動的 tile」。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5413248" y="375818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A9640B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5687568" y="3694176"/>
            <a:ext cx="5937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雙訊號交叉驗證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5687568" y="3977640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dirtyRects 當主訊號、Metal per-tile dHash 當 ground truth——不信任單一來源。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5413248" y="469087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A9640B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5687568" y="4626864"/>
            <a:ext cx="5937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冷熱狀態機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5687568" y="4910328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影片區自動標 DYNAMIC 並跳過 OCR。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5413248" y="5504688"/>
            <a:ext cx="6211519" cy="786384"/>
          </a:xfrm>
          <a:prstGeom prst="roundRect">
            <a:avLst>
              <a:gd name="adj" fmla="val 5814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650992" y="5504688"/>
            <a:ext cx="5736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7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真機實測　idle CPU 9%　·　operating 25%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記得清 · Action Script Narrator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截圖是單一瞬間，劇本是因果史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263640" cy="3200400"/>
          </a:xfrm>
          <a:prstGeom prst="roundRect">
            <a:avLst>
              <a:gd name="adj" fmla="val 1429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2084832"/>
            <a:ext cx="567842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A964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14:07:12  [切到 Safari]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14:07:31  [複製 “func reconnect(attempt:)” 附近 12 行]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14:11:02  [切回 Xcode · WebSocketClient.swift]
</a:t>
            </a:r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A964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「使用者正在為 WebSocket 重連加入指數退避，
      已查到參考實作，尚未套用」
</a:t>
            </a:r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A964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「14:00–14:15 debug WebSocket 重連」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96328" y="18288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6EC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9632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46136" y="1856232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46136" y="2121408"/>
            <a:ext cx="3678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零模型、完全確定性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96328" y="26151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6EC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96328" y="2615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46136" y="2642616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3B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46136" y="2907792"/>
            <a:ext cx="3678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FoundationModels，推測意圖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96328" y="340156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6EC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96328" y="3401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46136" y="3429000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段落摘要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46136" y="3694176"/>
            <a:ext cx="3678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滾動彙總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96328" y="4297680"/>
            <a:ext cx="4428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階梯會回報自己用了哪一層——關掉 Apple Intelligence 就掉回規則式，不中斷。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96328" y="5029200"/>
            <a:ext cx="4428439" cy="658368"/>
          </a:xfrm>
          <a:prstGeom prst="roundRect">
            <a:avLst>
              <a:gd name="adj" fmla="val 6944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15784" y="5029200"/>
            <a:ext cx="39895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47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延遲　1373–2388ms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交棒快 · Cloud Takeover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四道閘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模型回來的每個動作都是不可信提議。螢幕上出現的任何指令都可能是別人放的，所以防線必須在模型之外。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613584" cy="2487168"/>
          </a:xfrm>
          <a:prstGeom prst="roundRect">
            <a:avLst>
              <a:gd name="adj" fmla="val 1838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551176"/>
            <a:ext cx="213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26664"/>
            <a:ext cx="213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出境閘門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355848"/>
            <a:ext cx="213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EgressGate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03320"/>
            <a:ext cx="2138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逐欄位掃描信封並遮罩；PIPL 命中就整包拒出，呼叫端只准走本地階，不 fallback 雲端。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1680" y="2331720"/>
            <a:ext cx="2613584" cy="2487168"/>
          </a:xfrm>
          <a:prstGeom prst="roundRect">
            <a:avLst>
              <a:gd name="adj" fmla="val 1838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9424" y="2551176"/>
            <a:ext cx="213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3026664"/>
            <a:ext cx="213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預算熔斷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9424" y="3355848"/>
            <a:ext cx="213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 Gateway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19424" y="3703320"/>
            <a:ext cx="2138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 max_budget；路由不變式由 pytest 解析 config 斷言，不靠人記得。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6432" y="2331720"/>
            <a:ext cx="2613584" cy="2487168"/>
          </a:xfrm>
          <a:prstGeom prst="roundRect">
            <a:avLst>
              <a:gd name="adj" fmla="val 1838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4176" y="2551176"/>
            <a:ext cx="213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34176" y="3026664"/>
            <a:ext cx="213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風險分級 + 人按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34176" y="3355848"/>
            <a:ext cx="213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RiskClassifier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34176" y="3703320"/>
            <a:ext cx="2138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與模型推理無關的本地規則判 low／medium／high；high 在任何政策下都必須人按。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11183" y="2331720"/>
            <a:ext cx="2613584" cy="2487168"/>
          </a:xfrm>
          <a:prstGeom prst="roundRect">
            <a:avLst>
              <a:gd name="adj" fmla="val 1838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48927" y="2551176"/>
            <a:ext cx="213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248927" y="3026664"/>
            <a:ext cx="213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沙箱執行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48927" y="3355848"/>
            <a:ext cx="213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XPC + sbpl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248927" y="3703320"/>
            <a:ext cx="2138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雙向 code-signing 驗證 → sandbox-exec → posix_spawn argv 直呼。全程沒有一個 shell。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138928"/>
            <a:ext cx="11057839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5138928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⌃⌥⌘.  kill-switch：作廢整個世代的授權——串流斷、HUD 進 aborted、後續 token 全失效。停的不是一個動作，是整批授權。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pPr indent="0" marL="0">
              <a:buNone/>
            </a:pPr>
            <a:r>
              <a:rPr lang="en-US" sz="26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66 </a:t>
            </a:r>
            <a:pPr indent="0" marL="0">
              <a:buNone/>
            </a:pPr>
            <a:r>
              <a:rPr lang="en-US" sz="26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94%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120640" y="731520"/>
            <a:ext cx="650412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 58 步 TDD backlog（含 10.5／23.5 共 60 列），step 53「M5 真機驗收」做下去才發現前置的執行端根本不存在，展開成 53.1–53.7——所以總數是 66。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1326223" cy="969264"/>
          </a:xfrm>
          <a:prstGeom prst="roundRect">
            <a:avLst>
              <a:gd name="adj" fmla="val 4717"/>
            </a:avLst>
          </a:prstGeom>
          <a:solidFill>
            <a:srgbClr val="DFEB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79222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029968"/>
            <a:ext cx="1070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擷取引擎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34086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CPU 9%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57159" y="1700784"/>
            <a:ext cx="1326223" cy="969264"/>
          </a:xfrm>
          <a:prstGeom prst="roundRect">
            <a:avLst>
              <a:gd name="adj" fmla="val 4717"/>
            </a:avLst>
          </a:prstGeom>
          <a:solidFill>
            <a:srgbClr val="E7EA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85175" y="179222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085175" y="2029968"/>
            <a:ext cx="1070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冷熱狀態機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085175" y="234086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待驗收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47390" y="1700784"/>
            <a:ext cx="1326223" cy="969264"/>
          </a:xfrm>
          <a:prstGeom prst="roundRect">
            <a:avLst>
              <a:gd name="adj" fmla="val 4717"/>
            </a:avLst>
          </a:prstGeom>
          <a:solidFill>
            <a:srgbClr val="DFEB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5406" y="179222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5406" y="2029968"/>
            <a:ext cx="1070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局部 OCR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75406" y="234086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吞吐 18%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37621" y="1700784"/>
            <a:ext cx="1326223" cy="969264"/>
          </a:xfrm>
          <a:prstGeom prst="roundRect">
            <a:avLst>
              <a:gd name="adj" fmla="val 4717"/>
            </a:avLst>
          </a:prstGeom>
          <a:solidFill>
            <a:srgbClr val="DFEBE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65637" y="179222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M2.5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65637" y="2029968"/>
            <a:ext cx="1070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劇本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865637" y="234086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時間機器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7852" y="1700784"/>
            <a:ext cx="1326223" cy="969264"/>
          </a:xfrm>
          <a:prstGeom prst="roundRect">
            <a:avLst>
              <a:gd name="adj" fmla="val 4717"/>
            </a:avLst>
          </a:prstGeom>
          <a:solidFill>
            <a:srgbClr val="E7EA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55868" y="179222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55868" y="2029968"/>
            <a:ext cx="1070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記憶系統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255868" y="234086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待驗收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18082" y="1700784"/>
            <a:ext cx="1326223" cy="969264"/>
          </a:xfrm>
          <a:prstGeom prst="roundRect">
            <a:avLst>
              <a:gd name="adj" fmla="val 4717"/>
            </a:avLst>
          </a:prstGeom>
          <a:solidFill>
            <a:srgbClr val="DFEBE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46099" y="179222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646099" y="2029968"/>
            <a:ext cx="1070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本地敘事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646099" y="234086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1373–2388ms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08313" y="1700784"/>
            <a:ext cx="1326223" cy="969264"/>
          </a:xfrm>
          <a:prstGeom prst="roundRect">
            <a:avLst>
              <a:gd name="adj" fmla="val 4717"/>
            </a:avLst>
          </a:prstGeom>
          <a:solidFill>
            <a:srgbClr val="F6ECD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36329" y="179222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64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036329" y="2029968"/>
            <a:ext cx="1070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雲端交棒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36329" y="234086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執行端全通過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298544" y="1700784"/>
            <a:ext cx="1326223" cy="969264"/>
          </a:xfrm>
          <a:prstGeom prst="roundRect">
            <a:avLst>
              <a:gd name="adj" fmla="val 4717"/>
            </a:avLst>
          </a:prstGeom>
          <a:solidFill>
            <a:srgbClr val="E7EAE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426560" y="179222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426560" y="2029968"/>
            <a:ext cx="1070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隱私黑名單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426560" y="2340864"/>
            <a:ext cx="10701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待驗收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可跑骨架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2532888" y="2907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1–10.5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67328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0" name="Shape 38"/>
          <p:cNvSpPr/>
          <p:nvPr/>
        </p:nvSpPr>
        <p:spPr>
          <a:xfrm>
            <a:off x="3945636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1" name="Shape 39"/>
          <p:cNvSpPr/>
          <p:nvPr/>
        </p:nvSpPr>
        <p:spPr>
          <a:xfrm>
            <a:off x="4123944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2" name="Shape 40"/>
          <p:cNvSpPr/>
          <p:nvPr/>
        </p:nvSpPr>
        <p:spPr>
          <a:xfrm>
            <a:off x="4302252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4" name="Shape 42"/>
          <p:cNvSpPr/>
          <p:nvPr/>
        </p:nvSpPr>
        <p:spPr>
          <a:xfrm>
            <a:off x="4658868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5" name="Shape 43"/>
          <p:cNvSpPr/>
          <p:nvPr/>
        </p:nvSpPr>
        <p:spPr>
          <a:xfrm>
            <a:off x="4837176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6" name="Shape 44"/>
          <p:cNvSpPr/>
          <p:nvPr/>
        </p:nvSpPr>
        <p:spPr>
          <a:xfrm>
            <a:off x="5015484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7" name="Shape 45"/>
          <p:cNvSpPr/>
          <p:nvPr/>
        </p:nvSpPr>
        <p:spPr>
          <a:xfrm>
            <a:off x="5193792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8" name="Shape 46"/>
          <p:cNvSpPr/>
          <p:nvPr/>
        </p:nvSpPr>
        <p:spPr>
          <a:xfrm>
            <a:off x="5372100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49" name="Shape 47"/>
          <p:cNvSpPr/>
          <p:nvPr/>
        </p:nvSpPr>
        <p:spPr>
          <a:xfrm>
            <a:off x="5550408" y="297180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05840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566928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智慧擷取引擎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2532888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11–24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67328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54" name="Shape 52"/>
          <p:cNvSpPr/>
          <p:nvPr/>
        </p:nvSpPr>
        <p:spPr>
          <a:xfrm>
            <a:off x="3945636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55" name="Shape 53"/>
          <p:cNvSpPr/>
          <p:nvPr/>
        </p:nvSpPr>
        <p:spPr>
          <a:xfrm>
            <a:off x="4123944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56" name="Shape 54"/>
          <p:cNvSpPr/>
          <p:nvPr/>
        </p:nvSpPr>
        <p:spPr>
          <a:xfrm>
            <a:off x="4302252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57" name="Shape 55"/>
          <p:cNvSpPr/>
          <p:nvPr/>
        </p:nvSpPr>
        <p:spPr>
          <a:xfrm>
            <a:off x="4480560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58" name="Shape 56"/>
          <p:cNvSpPr/>
          <p:nvPr/>
        </p:nvSpPr>
        <p:spPr>
          <a:xfrm>
            <a:off x="4658868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59" name="Shape 57"/>
          <p:cNvSpPr/>
          <p:nvPr/>
        </p:nvSpPr>
        <p:spPr>
          <a:xfrm>
            <a:off x="4837176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60" name="Shape 58"/>
          <p:cNvSpPr/>
          <p:nvPr/>
        </p:nvSpPr>
        <p:spPr>
          <a:xfrm>
            <a:off x="5015484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61" name="Shape 59"/>
          <p:cNvSpPr/>
          <p:nvPr/>
        </p:nvSpPr>
        <p:spPr>
          <a:xfrm>
            <a:off x="5193792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62" name="Shape 60"/>
          <p:cNvSpPr/>
          <p:nvPr/>
        </p:nvSpPr>
        <p:spPr>
          <a:xfrm>
            <a:off x="5372100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63" name="Shape 61"/>
          <p:cNvSpPr/>
          <p:nvPr/>
        </p:nvSpPr>
        <p:spPr>
          <a:xfrm>
            <a:off x="5550408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64" name="Shape 62"/>
          <p:cNvSpPr/>
          <p:nvPr/>
        </p:nvSpPr>
        <p:spPr>
          <a:xfrm>
            <a:off x="5728716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65" name="Shape 63"/>
          <p:cNvSpPr/>
          <p:nvPr/>
        </p:nvSpPr>
        <p:spPr>
          <a:xfrm>
            <a:off x="5907024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66" name="Shape 64"/>
          <p:cNvSpPr/>
          <p:nvPr/>
        </p:nvSpPr>
        <p:spPr>
          <a:xfrm>
            <a:off x="6085332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7EAE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63640" y="335584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7EAE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05840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15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566928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局部 OCR</a:t>
            </a:r>
            <a:endParaRPr lang="en-US" sz="1250" dirty="0"/>
          </a:p>
        </p:txBody>
      </p:sp>
      <p:sp>
        <p:nvSpPr>
          <p:cNvPr id="70" name="Text 68"/>
          <p:cNvSpPr txBox="1"/>
          <p:nvPr/>
        </p:nvSpPr>
        <p:spPr>
          <a:xfrm>
            <a:off x="2532888" y="3675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25–29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767328" y="3739896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72" name="Shape 70"/>
          <p:cNvSpPr/>
          <p:nvPr/>
        </p:nvSpPr>
        <p:spPr>
          <a:xfrm>
            <a:off x="3945636" y="3739896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73" name="Shape 71"/>
          <p:cNvSpPr/>
          <p:nvPr/>
        </p:nvSpPr>
        <p:spPr>
          <a:xfrm>
            <a:off x="4123944" y="3739896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74" name="Shape 72"/>
          <p:cNvSpPr/>
          <p:nvPr/>
        </p:nvSpPr>
        <p:spPr>
          <a:xfrm>
            <a:off x="4302252" y="3739896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75" name="Shape 73"/>
          <p:cNvSpPr/>
          <p:nvPr/>
        </p:nvSpPr>
        <p:spPr>
          <a:xfrm>
            <a:off x="4480560" y="3739896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0058400" y="3675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5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566928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記憶系統</a:t>
            </a:r>
            <a:endParaRPr lang="en-US" sz="1250" dirty="0"/>
          </a:p>
        </p:txBody>
      </p:sp>
      <p:sp>
        <p:nvSpPr>
          <p:cNvPr id="78" name="Text 76"/>
          <p:cNvSpPr txBox="1"/>
          <p:nvPr/>
        </p:nvSpPr>
        <p:spPr>
          <a:xfrm>
            <a:off x="2532888" y="40599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30–36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767328" y="41239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80" name="Shape 78"/>
          <p:cNvSpPr/>
          <p:nvPr/>
        </p:nvSpPr>
        <p:spPr>
          <a:xfrm>
            <a:off x="3945636" y="41239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81" name="Shape 79"/>
          <p:cNvSpPr/>
          <p:nvPr/>
        </p:nvSpPr>
        <p:spPr>
          <a:xfrm>
            <a:off x="4123944" y="41239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82" name="Shape 80"/>
          <p:cNvSpPr/>
          <p:nvPr/>
        </p:nvSpPr>
        <p:spPr>
          <a:xfrm>
            <a:off x="4302252" y="41239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83" name="Shape 81"/>
          <p:cNvSpPr/>
          <p:nvPr/>
        </p:nvSpPr>
        <p:spPr>
          <a:xfrm>
            <a:off x="4480560" y="41239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84" name="Shape 82"/>
          <p:cNvSpPr/>
          <p:nvPr/>
        </p:nvSpPr>
        <p:spPr>
          <a:xfrm>
            <a:off x="4658868" y="41239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85" name="Shape 83"/>
          <p:cNvSpPr/>
          <p:nvPr/>
        </p:nvSpPr>
        <p:spPr>
          <a:xfrm>
            <a:off x="4837176" y="41239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7EAE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05840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7</a:t>
            </a:r>
            <a:endParaRPr lang="en-US" sz="1050" dirty="0"/>
          </a:p>
        </p:txBody>
      </p:sp>
      <p:sp>
        <p:nvSpPr>
          <p:cNvPr id="87" name="Text 85"/>
          <p:cNvSpPr txBox="1"/>
          <p:nvPr/>
        </p:nvSpPr>
        <p:spPr>
          <a:xfrm>
            <a:off x="566928" y="4443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本地推理敘事</a:t>
            </a:r>
            <a:endParaRPr lang="en-US" sz="1250" dirty="0"/>
          </a:p>
        </p:txBody>
      </p:sp>
      <p:sp>
        <p:nvSpPr>
          <p:cNvPr id="88" name="Text 86"/>
          <p:cNvSpPr txBox="1"/>
          <p:nvPr/>
        </p:nvSpPr>
        <p:spPr>
          <a:xfrm>
            <a:off x="2532888" y="4443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37–42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767328" y="450799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90" name="Shape 88"/>
          <p:cNvSpPr/>
          <p:nvPr/>
        </p:nvSpPr>
        <p:spPr>
          <a:xfrm>
            <a:off x="3945636" y="450799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91" name="Shape 89"/>
          <p:cNvSpPr/>
          <p:nvPr/>
        </p:nvSpPr>
        <p:spPr>
          <a:xfrm>
            <a:off x="4123944" y="450799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92" name="Shape 90"/>
          <p:cNvSpPr/>
          <p:nvPr/>
        </p:nvSpPr>
        <p:spPr>
          <a:xfrm>
            <a:off x="4302252" y="450799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93" name="Shape 91"/>
          <p:cNvSpPr/>
          <p:nvPr/>
        </p:nvSpPr>
        <p:spPr>
          <a:xfrm>
            <a:off x="4480560" y="450799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94" name="Shape 92"/>
          <p:cNvSpPr/>
          <p:nvPr/>
        </p:nvSpPr>
        <p:spPr>
          <a:xfrm>
            <a:off x="4658868" y="450799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005840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6</a:t>
            </a:r>
            <a:endParaRPr lang="en-US" sz="1050" dirty="0"/>
          </a:p>
        </p:txBody>
      </p:sp>
      <p:sp>
        <p:nvSpPr>
          <p:cNvPr id="96" name="Text 94"/>
          <p:cNvSpPr txBox="1"/>
          <p:nvPr/>
        </p:nvSpPr>
        <p:spPr>
          <a:xfrm>
            <a:off x="566928" y="4828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雲端交棒</a:t>
            </a:r>
            <a:endParaRPr lang="en-US" sz="1250" dirty="0"/>
          </a:p>
        </p:txBody>
      </p:sp>
      <p:sp>
        <p:nvSpPr>
          <p:cNvPr id="97" name="Text 95"/>
          <p:cNvSpPr txBox="1"/>
          <p:nvPr/>
        </p:nvSpPr>
        <p:spPr>
          <a:xfrm>
            <a:off x="2532888" y="4828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43–53.7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767328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99" name="Shape 97"/>
          <p:cNvSpPr/>
          <p:nvPr/>
        </p:nvSpPr>
        <p:spPr>
          <a:xfrm>
            <a:off x="3945636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0" name="Shape 98"/>
          <p:cNvSpPr/>
          <p:nvPr/>
        </p:nvSpPr>
        <p:spPr>
          <a:xfrm>
            <a:off x="4123944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1" name="Shape 99"/>
          <p:cNvSpPr/>
          <p:nvPr/>
        </p:nvSpPr>
        <p:spPr>
          <a:xfrm>
            <a:off x="4302252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480560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658868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837176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015484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193792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72100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550408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728716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907024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085332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263640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441948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620256" y="489204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1005840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17</a:t>
            </a:r>
            <a:endParaRPr lang="en-US" sz="1050" dirty="0"/>
          </a:p>
        </p:txBody>
      </p:sp>
      <p:sp>
        <p:nvSpPr>
          <p:cNvPr id="116" name="Text 114"/>
          <p:cNvSpPr txBox="1"/>
          <p:nvPr/>
        </p:nvSpPr>
        <p:spPr>
          <a:xfrm>
            <a:off x="566928" y="5212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隱私黑名單</a:t>
            </a:r>
            <a:endParaRPr lang="en-US" sz="1250" dirty="0"/>
          </a:p>
        </p:txBody>
      </p:sp>
      <p:sp>
        <p:nvSpPr>
          <p:cNvPr id="117" name="Text 115"/>
          <p:cNvSpPr txBox="1"/>
          <p:nvPr/>
        </p:nvSpPr>
        <p:spPr>
          <a:xfrm>
            <a:off x="2532888" y="5212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54–58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3767328" y="52760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945636" y="52760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20" name="Shape 118"/>
          <p:cNvSpPr/>
          <p:nvPr/>
        </p:nvSpPr>
        <p:spPr>
          <a:xfrm>
            <a:off x="4123944" y="52760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302252" y="52760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B57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480560" y="52760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7EAE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5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566928" y="5779008"/>
            <a:ext cx="11057839" cy="603504"/>
          </a:xfrm>
          <a:prstGeom prst="roundRect">
            <a:avLst>
              <a:gd name="adj" fmla="val 7576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804672" y="5779008"/>
            <a:ext cx="1058235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剩下四項全部只有真 Mac 能驗：</a:t>
            </a:r>
            <a:pPr indent="0" marL="0"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23.5（延後優化）· 24（M1）· 36（M3）· 58（M6）　—　沒有任何「CI 能驗但還沒寫」的邏輯欠著。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8,606 行程式碼，6,161 行測試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2627300" cy="1170432"/>
          </a:xfrm>
          <a:prstGeom prst="roundRect">
            <a:avLst>
              <a:gd name="adj" fmla="val 3906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883664"/>
            <a:ext cx="2188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8,606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50592"/>
            <a:ext cx="2188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原始碼 · 100 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77108" y="1755648"/>
            <a:ext cx="2627300" cy="1170432"/>
          </a:xfrm>
          <a:prstGeom prst="roundRect">
            <a:avLst>
              <a:gd name="adj" fmla="val 3906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1883664"/>
            <a:ext cx="2188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6,161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96564" y="2450592"/>
            <a:ext cx="2188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 · 72 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7288" y="1755648"/>
            <a:ext cx="2627300" cy="1170432"/>
          </a:xfrm>
          <a:prstGeom prst="roundRect">
            <a:avLst>
              <a:gd name="adj" fmla="val 3906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6744" y="1883664"/>
            <a:ext cx="2188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06744" y="2450592"/>
            <a:ext cx="2188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XCTest 案例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97467" y="1755648"/>
            <a:ext cx="2627300" cy="1170432"/>
          </a:xfrm>
          <a:prstGeom prst="roundRect">
            <a:avLst>
              <a:gd name="adj" fmla="val 3906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16923" y="1883664"/>
            <a:ext cx="2188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16923" y="2450592"/>
            <a:ext cx="2188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測試比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218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32186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檔數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224528" y="3218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3218688"/>
            <a:ext cx="69613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3511296"/>
            <a:ext cx="11240719" cy="347472"/>
          </a:xfrm>
          <a:prstGeom prst="rect">
            <a:avLst/>
          </a:prstGeom>
          <a:solidFill>
            <a:srgbClr val="EDEF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ActionExecutor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401568" y="35478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224528" y="3547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1,789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30368" y="3547872"/>
            <a:ext cx="6961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閘門、風險、沙箱、UI 動作、undo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CaptureEngine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401568" y="3913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224528" y="3913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1,784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230368" y="3913632"/>
            <a:ext cx="6961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擷取、tile、注意力、OCR、隱私遮罩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" y="4242816"/>
            <a:ext cx="11240719" cy="347472"/>
          </a:xfrm>
          <a:prstGeom prst="rect">
            <a:avLst/>
          </a:prstGeom>
          <a:solidFill>
            <a:srgbClr val="EDEF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app（含 XPC service）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401568" y="4279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224528" y="4279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2,461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30368" y="4279392"/>
            <a:ext cx="6961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bar、HUD 浮層、執行端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ScriptNarrator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401568" y="4645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224528" y="4645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230368" y="4645152"/>
            <a:ext cx="6961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L0／L1／L2 三層劇本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" y="4974336"/>
            <a:ext cx="11240719" cy="347472"/>
          </a:xfrm>
          <a:prstGeom prst="rect">
            <a:avLst/>
          </a:prstGeom>
          <a:solidFill>
            <a:srgbClr val="EDEFE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66928" y="5010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CloudRouter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401568" y="5010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224528" y="5010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858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230368" y="5010912"/>
            <a:ext cx="6961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打包、出境閘門、computer-use、SSE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CoPartnerCore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401568" y="5376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224528" y="5376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472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230368" y="5376672"/>
            <a:ext cx="6961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共用型別、記憶體診斷純值層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75488" y="5705856"/>
            <a:ext cx="11240719" cy="347472"/>
          </a:xfrm>
          <a:prstGeom prst="rect">
            <a:avLst/>
          </a:prstGeom>
          <a:solidFill>
            <a:srgbClr val="EDEFE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66928" y="5742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MemoryStore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3401568" y="57424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224528" y="5742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174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230368" y="5742432"/>
            <a:ext cx="6961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三層記憶、向量檢索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三 job 全綠（macos-15）：swift · python · app（xcodegen + xcodebuild + XPC probe 型別檢查）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沒有 Mac，怎麼寫 macOS app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開發代理跑在 Linux 容器，沒有 Mac、沒有 GPU、沒有螢幕、沒有權限、沒有 Apple Intelligence。這六條是被逼出來的。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8600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267712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可注入後端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578608"/>
            <a:ext cx="488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平台重活（Metal／SCK／vec0／FoundationModels／computer-use／XPC）全藏在 protocol 後，CI 用假後端驗邏輯。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78728" y="228600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35928" y="2267712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誠實佔位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735928" y="2578608"/>
            <a:ext cx="488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沒接線的真後端一律 throw .notWired，絕不靜默假成功。假成功會讓「還沒接」這個訊號永遠消失。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844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3566160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不變式寫進型別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877056"/>
            <a:ext cx="488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ApprovalToken 的 init 是 internal，繞過閘門的呼叫路徑在編譯層面不存在；而且它不過 XPC 線。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35844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35928" y="3566160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先無害，再有能力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735928" y="3877056"/>
            <a:ext cx="488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XPC service 先做成沒有執行能力的骨架，驗簽補上後才翻開開關。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828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4864608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綠 ≠ 真的編到了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175504"/>
            <a:ext cx="488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canImport 為 false 時整檔靜默略過。在 #if／#else 兩側各放一個 #warning，看到黃字才算數。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48828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35928" y="4864608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驗證方式比被驗的東西重要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5175504"/>
            <a:ext cx="488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沙箱只測「擋得住」會得到假通過——deny-default 下什麼都跑不起來。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把不變式寫進型別系統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間接 prompt injection 的防線不能是「我在 prompt 裡叫它不要聽壞人的話」。防線必須在模型之外。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34086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64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ApprovalToken 的 init 是 internal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230368" y="2340864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只有同模組的 HUD 狀態機能鑄造 → 「繞過確認閘門的呼叫路徑」在編譯層面不存在。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18211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64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ApprovalToken 不過 XPC 線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230368" y="3182112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跨程序的值可以偽造，所以授權留在偽造不了的地方——主 app 內驗。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968496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40233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64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ProposedAction 只有 argv: [String]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4023360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沒有整串 shell 欄位，型別層面消滅 metacharacter 注入面，executor 不經 sh -c。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809744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86460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64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模型輸出＝不可信提議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4864608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每個動作過與模型推理無關的本地規則，加人工確認。防線不依賴 prompt。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77900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十條可測不變式 I1–I10：繞不過閘門 · high 必人按 · 危險指令保守偏殺 · 無 shell 字串 · 路徑白名單解 symlink · 敏感不出境 · kill-switch 作廢整世代 · 動作迴圈熔斷 · 每提議落稽核 · gateway 路由不變式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0A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2026-08-20  ·  2026-09-03  ·  STEP 53.5 / 53.6-C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兩次「第一次」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9105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翻開的那一行單獨成立一個 PR。理由很簡單：翻開執行能力若混在一大包程式碼裡，沒有人（包括作者）能真的審完。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04288"/>
            <a:ext cx="5346040" cy="2743200"/>
          </a:xfrm>
          <a:prstGeom prst="roundRect">
            <a:avLst>
              <a:gd name="adj" fmla="val 1667"/>
            </a:avLst>
          </a:prstGeom>
          <a:solidFill>
            <a:srgbClr val="1B2E27"/>
          </a:solidFill>
          <a:ln/>
        </p:spPr>
      </p:sp>
      <p:sp>
        <p:nvSpPr>
          <p:cNvPr id="6" name="Shape 4"/>
          <p:cNvSpPr/>
          <p:nvPr/>
        </p:nvSpPr>
        <p:spPr>
          <a:xfrm>
            <a:off x="6278728" y="2304288"/>
            <a:ext cx="5346040" cy="2743200"/>
          </a:xfrm>
          <a:prstGeom prst="roundRect">
            <a:avLst>
              <a:gd name="adj" fmla="val 1667"/>
            </a:avLst>
          </a:prstGeom>
          <a:solidFill>
            <a:srgbClr val="2E241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50545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B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允許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50545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2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拒絕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" y="3035808"/>
            <a:ext cx="91440" cy="91440"/>
          </a:xfrm>
          <a:prstGeom prst="roundRect">
            <a:avLst>
              <a:gd name="adj" fmla="val 20000"/>
            </a:avLst>
          </a:prstGeom>
          <a:solidFill>
            <a:srgbClr val="6FBF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2944368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 shell 一種動作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3547872"/>
            <a:ext cx="91440" cy="91440"/>
          </a:xfrm>
          <a:prstGeom prst="roundRect">
            <a:avLst>
              <a:gd name="adj" fmla="val 20000"/>
            </a:avLst>
          </a:prstGeom>
          <a:solidFill>
            <a:srgbClr val="6FBF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78992" y="3456432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只有固定表裡七個唯讀工具：cat ls head tail wc grep find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40599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6FBF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3968496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只能寫沙箱工作目錄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" y="4572000"/>
            <a:ext cx="91440" cy="91440"/>
          </a:xfrm>
          <a:prstGeom prst="roundRect">
            <a:avLst>
              <a:gd name="adj" fmla="val 20000"/>
            </a:avLst>
          </a:prstGeom>
          <a:solidFill>
            <a:srgbClr val="6FBF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78992" y="4480560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每個動作仍過本地風險分級 + HUD 人工確認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53048" y="3035808"/>
            <a:ext cx="91440" cy="91440"/>
          </a:xfrm>
          <a:prstGeom prst="roundRect">
            <a:avLst>
              <a:gd name="adj" fmla="val 20000"/>
            </a:avLst>
          </a:prstGeom>
          <a:solidFill>
            <a:srgbClr val="E0A24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90792" y="2944368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永遠不含 shell 本身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53048" y="3547872"/>
            <a:ext cx="91440" cy="91440"/>
          </a:xfrm>
          <a:prstGeom prst="roundRect">
            <a:avLst>
              <a:gd name="adj" fmla="val 20000"/>
            </a:avLst>
          </a:prstGeom>
          <a:solidFill>
            <a:srgbClr val="E0A24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90792" y="3456432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網路全斷、家目錄關閉、秘密路徑另外 deny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53048" y="40599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E0A2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90792" y="3968496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檔案動作明確拒絕；UI 執行端刻意不支援截圖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53048" y="4572000"/>
            <a:ext cx="91440" cy="91440"/>
          </a:xfrm>
          <a:prstGeom prst="roundRect">
            <a:avLst>
              <a:gd name="adj" fmla="val 20000"/>
            </a:avLst>
          </a:prstGeom>
          <a:solidFill>
            <a:srgbClr val="E0A24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90792" y="4480560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解析不出的組合鍵一律 high——不知道它會做什麼，更該問人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28523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第一次真執行刻意用本地合成提議，走完全相同的路徑——不繞過任何閘門，只是把提議來源從雲端換成本地，讓第一次真執行發生在完全受控的情況下。翻回 false 是出事時的第一個動作，只需改一行。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縱深五層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57839" cy="603504"/>
          </a:xfrm>
          <a:prstGeom prst="roundRect">
            <a:avLst>
              <a:gd name="adj" fmla="val 7576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476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6EC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8288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61488" y="1828800"/>
            <a:ext cx="71259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PIIMasker — 卡號／身分證／密碼欄在寫進劇本之前就遮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53167" y="2011680"/>
            <a:ext cx="1170432" cy="237744"/>
          </a:xfrm>
          <a:prstGeom prst="roundRect">
            <a:avLst>
              <a:gd name="adj" fmla="val 46154"/>
            </a:avLst>
          </a:prstGeom>
          <a:solidFill>
            <a:srgbClr val="DFEB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53167" y="201168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真機驗過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560320"/>
            <a:ext cx="11057839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6791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6EC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256032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61488" y="2560320"/>
            <a:ext cx="71259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SensitiveTileMask — 敏感區不 OCR、不持久化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53167" y="2743200"/>
            <a:ext cx="1170432" cy="237744"/>
          </a:xfrm>
          <a:prstGeom prst="roundRect">
            <a:avLst>
              <a:gd name="adj" fmla="val 46154"/>
            </a:avLst>
          </a:prstGeom>
          <a:solidFill>
            <a:srgbClr val="E7EA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53167" y="27432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 M6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291840"/>
            <a:ext cx="11057839" cy="603504"/>
          </a:xfrm>
          <a:prstGeom prst="roundRect">
            <a:avLst>
              <a:gd name="adj" fmla="val 7576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341071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6EC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32918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761488" y="3291840"/>
            <a:ext cx="71259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SCContentFilter 黑名單 — 黑名單 app 0 frame 進來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53167" y="3474720"/>
            <a:ext cx="1170432" cy="237744"/>
          </a:xfrm>
          <a:prstGeom prst="roundRect">
            <a:avLst>
              <a:gd name="adj" fmla="val 46154"/>
            </a:avLst>
          </a:prstGeom>
          <a:solidFill>
            <a:srgbClr val="E7EAE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53167" y="347472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 M6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023360"/>
            <a:ext cx="11057839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41422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6ECD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8096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16736" y="402336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聚合層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761488" y="4023360"/>
            <a:ext cx="71259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注意力熱圖只存聚合權重，不存內容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53167" y="4206240"/>
            <a:ext cx="1170432" cy="237744"/>
          </a:xfrm>
          <a:prstGeom prst="roundRect">
            <a:avLst>
              <a:gd name="adj" fmla="val 46154"/>
            </a:avLst>
          </a:prstGeom>
          <a:solidFill>
            <a:srgbClr val="DFEBE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53167" y="420624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4754880"/>
            <a:ext cx="11057839" cy="603504"/>
          </a:xfrm>
          <a:prstGeom prst="roundRect">
            <a:avLst>
              <a:gd name="adj" fmla="val 7576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" y="4873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6ECD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8096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16736" y="475488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出境層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761488" y="4754880"/>
            <a:ext cx="71259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EgressGate — PIPL 命中整包拒出，只准走本地階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253167" y="4937760"/>
            <a:ext cx="1170432" cy="237744"/>
          </a:xfrm>
          <a:prstGeom prst="roundRect">
            <a:avLst>
              <a:gd name="adj" fmla="val 46154"/>
            </a:avLst>
          </a:prstGeom>
          <a:solidFill>
            <a:srgbClr val="E7EAE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253167" y="49377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 M5 收尾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68756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法遵：台灣 PDPA + 上海團隊的中國 PIPL 跨境條款。敏感命中時強制 local-only，不 fallback 雲端。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刻意的「不做」：UI 執行端不支援截圖——截圖該由擷取管線產生並經出境閘門，在執行端偷截一張等於靜默拿掉整個出境設計。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真機 dogfood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永遠測不到的那種 bug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11057839" cy="786384"/>
          </a:xfrm>
          <a:prstGeom prst="roundRect">
            <a:avLst>
              <a:gd name="adj" fmla="val 5814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73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狂刷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48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 · 同源共四類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18688" y="17556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終端機每輸出一個字就被判定換視窗。根因是焦點追蹤誤用 AX value（欄位內容）當視窗識別。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339328" y="1755648"/>
            <a:ext cx="3285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47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邏輯正確、測試也過——錯在真機餵給它的資料。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截整螢幕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907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18688" y="26151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混入選單列和其他 app 的文字，吞吐等同沒優化。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615184"/>
            <a:ext cx="3285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改依 AX 焦點框裁切 → 吞吐 18%。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bbox 左下原點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767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34747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與螢幕座標慣例相反，沿用會讓摘要上下顛倒。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3474720"/>
            <a:ext cx="3285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型別強迫呼叫端明講慣例。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稽核不誠實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6268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218688" y="43342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被閘門擋下的動作留下零痕跡；執行未成功記成已執行。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4334256"/>
            <a:ext cx="3285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改成 attempt／executed／notExecuted／blocked 四態。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sbpl 路徑陷阱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486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218688" y="51937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 /tmp/x 的規則對 /private/tmp/x 永遠不匹配，profile 看起來完全正常。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39328" y="5193792"/>
            <a:ext cx="3285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 realpath，並補上路徑跳脫。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53.7  ·  七輪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一場推翻了自己三次的診斷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症狀：沒開觀察、只是讓 app 開著就會跳系統記憶體告警。這一句話就排除了原本兩個主要嫌疑——它們都只在觀察開始後才存在。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67712"/>
            <a:ext cx="5029200" cy="1700784"/>
          </a:xfrm>
          <a:prstGeom prst="roundRect">
            <a:avLst>
              <a:gd name="adj" fmla="val 2688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395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trike="sngStrike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</a:t>
            </a:r>
            <a:pPr indent="0" marL="0">
              <a:buNone/>
            </a:pPr>
            <a:r>
              <a:rPr lang="en-US" sz="14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MB/hr</a:t>
            </a:r>
            <a:pPr indent="0" marL="0">
              <a:buNone/>
            </a:pPr>
            <a:r>
              <a:rPr lang="en-US" sz="20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pPr indent="0" marL="0">
              <a:buNone/>
            </a:pPr>
            <a:r>
              <a:rPr lang="en-US" sz="4000" b="1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pPr indent="0" marL="0">
              <a:buNone/>
            </a:pPr>
            <a:r>
              <a:rPr lang="en-US" sz="1400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MB/hr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05409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AsyncStream&lt;TileEvent&gt; 沒指定 buffering policy（無上限），唯一的消費者是 @MainActor 計數器。改成 .bufferingNewest(64)。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61888" y="2267712"/>
            <a:ext cx="5662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診斷過程推翻的三個中途結論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61888" y="2633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72784" y="2615184"/>
            <a:ext cx="53519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「持續成長」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2871216"/>
            <a:ext cx="5351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一次性暖機被整體斜率攤成了成長率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61888" y="3291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3273552"/>
            <a:ext cx="53519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「還是在成長」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3529584"/>
            <a:ext cx="5351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階段落差被攤成了成長率——斜率不該跨越狀態邊界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39502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3931920"/>
            <a:ext cx="53519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「停止後不回落」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4187952"/>
            <a:ext cx="5351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量測時機造成的假象。停止後 1–5 分鐘根本還沒開始掉，真正的落定點在 30 分鐘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773168"/>
            <a:ext cx="11057839" cy="822960"/>
          </a:xfrm>
          <a:prstGeom prst="roundRect">
            <a:avLst>
              <a:gd name="adj" fmla="val 5556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" y="4773168"/>
            <a:ext cx="104360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47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每一次都是同一種錯誤：一個看起來像資料的猜測，比「不知道」更糟。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79729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附帶設計：刻意不用定時器取樣。要量的正是閒置路徑，在上面裝一個定時醒來的東西，等於在被觀察的對象裡加一個新的觀察者。改成每次打開選單取一個樣，背景成本恰好是零。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驗證方式比被驗的東西重要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一個測不出東西的測試，比沒有測試更危險——因為它會讓你以為你驗過了。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346040" cy="2468880"/>
          </a:xfrm>
          <a:prstGeom prst="roundRect">
            <a:avLst>
              <a:gd name="adj" fmla="val 1852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8728" y="2286000"/>
            <a:ext cx="5346040" cy="2468880"/>
          </a:xfrm>
          <a:prstGeom prst="roundRect">
            <a:avLst>
              <a:gd name="adj" fmla="val 1852"/>
            </a:avLst>
          </a:prstGeom>
          <a:solidFill>
            <a:srgbClr val="DFEBE6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50545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974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錯的驗法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50545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對的驗法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1248" y="308152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6974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980944"/>
            <a:ext cx="481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只測「擋得住」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363016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69747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529584"/>
            <a:ext cx="481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deny-default 之下什麼都跑不起來 → 全部通過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178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69747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078224"/>
            <a:ext cx="481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得到一個永遠會通過的測試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53048" y="308152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2F6B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09080" y="2980944"/>
            <a:ext cx="481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成對驗證：正向基準 + 負向結果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53048" y="363016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2F6B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09080" y="3529584"/>
            <a:ext cx="481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負向結果依賴正向基準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53048" y="4178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2F6B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09080" y="4078224"/>
            <a:ext cx="481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基準沒過時全部標「無效」，而不是「通過」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11057839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7824" y="5029200"/>
            <a:ext cx="104360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./scripts/sandbox-verify.sh</a:t>
            </a:r>
            <a:pPr indent="0" marL="0">
              <a:buNone/>
            </a:pPr>
            <a:r>
              <a:rPr lang="en-US" sz="13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8 項全綠  ·  0 失敗  ·  </a:t>
            </a:r>
            <a:pPr indent="0" marL="0">
              <a:buNone/>
            </a:pPr>
            <a:r>
              <a:rPr lang="en-US" sz="1300" b="1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無效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同一個原則的另一個例子：canImport 隔離的程式碼，build 綠不代表編到了。在 #if／#else 兩側各放一個 #warning，看到黃字才算數。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L1 敘事延遲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一個算術上不可達的目標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92224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原訂目標  </a:t>
            </a:r>
            <a:pPr indent="0" marL="0">
              <a:buNone/>
            </a:pPr>
            <a:r>
              <a:rPr lang="en-US" sz="3000" b="1" strike="sngStrike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32304"/>
            <a:ext cx="5980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端上 3B 逐 token 串行生成，延遲幾乎與輸出長度成正比。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99232"/>
            <a:ext cx="5980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300ms 的預算只夠 12–15 個 token。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566160"/>
            <a:ext cx="5980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塞不下 6 欄位結構化輸出裡的兩段散文加一個陣列。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133088"/>
            <a:ext cx="5980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再壓要砍 inferredGoal 欄位——那是 L1 的全部價值。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828032"/>
            <a:ext cx="6309360" cy="822960"/>
          </a:xfrm>
          <a:prstGeom prst="roundRect">
            <a:avLst>
              <a:gd name="adj" fmla="val 5556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82803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47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這是輸出形狀與模型吞吐的算術，不是調校問題。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33488" y="1792224"/>
            <a:ext cx="4291279" cy="1828800"/>
          </a:xfrm>
          <a:prstGeom prst="roundRect">
            <a:avLst>
              <a:gd name="adj" fmla="val 2500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193852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壓過一輪就到頭了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286000"/>
            <a:ext cx="3779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trike="sngStrike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2659</a:t>
            </a:r>
            <a:pPr indent="0" marL="0">
              <a:buNone/>
            </a:pPr>
            <a:r>
              <a:rPr lang="en-US" sz="18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340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1373</a:t>
            </a:r>
            <a:pPr indent="0" marL="0">
              <a:buNone/>
            </a:pPr>
            <a:r>
              <a:rPr lang="en-US" sz="14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92608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 @Guide 字數上限 + 視窗縮減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33488" y="3803904"/>
            <a:ext cx="4291279" cy="1847088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39502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修訂後的標準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224528"/>
            <a:ext cx="3779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~2.5s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4773168"/>
            <a:ext cx="3779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 1373–2388ms。浮動是因為 @Guide 的字數上限模型只當參考、不嚴格遵守（設 20 字、實測輸出 35 字）。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step 53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現在卡在哪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00320" cy="3931920"/>
          </a:xfrm>
          <a:prstGeom prst="roundRect">
            <a:avLst>
              <a:gd name="adj" fmla="val 1163"/>
            </a:avLst>
          </a:prstGeom>
          <a:solidFill>
            <a:srgbClr val="DFEBE6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066544"/>
            <a:ext cx="475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已完成（真機驗過）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468880"/>
            <a:ext cx="402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XPC 骨架 — service pid ≠ app pid，刻意無執行能力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017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999232"/>
            <a:ext cx="402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雙向 code-signing 驗證 — 外部程序定址不到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5478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529584"/>
            <a:ext cx="402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sandbox-exec profile — 成對驗證 8 項全綠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0782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4059936"/>
            <a:ext cx="402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第一次真的執行命令 — stdout 帶回對得上的 UUID（8／20）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6085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72768" y="4590288"/>
            <a:ext cx="402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第一次真的動使用者的電腦 — HUD 確認後畫面捲動（9／3）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51389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5120640"/>
            <a:ext cx="402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記憶體洩漏定位並修復 — +151 → +7 MB/hr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24448" y="1828800"/>
            <a:ext cx="5300320" cy="3931920"/>
          </a:xfrm>
          <a:prstGeom prst="roundRect">
            <a:avLst>
              <a:gd name="adj" fmla="val 1163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98768" y="2066544"/>
            <a:ext cx="475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64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還剩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98768" y="25603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46240" y="2542032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接上真雲端 SSE 來源 — 執行端全通了，但提議還是本地合成的；目前解析鏈用假來源驗過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98768" y="33375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46240" y="3319272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 I1–I10 逐項勾：危險指令被攔／kill-switch 全鏈斷／越界寫入 deny／LiteLLM 預算熔斷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4114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46240" y="4096512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接手品質 — 留個 open loop 按熱鍵，Claude 應接續而不是貼一堆說明文字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7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之後：M3 真 vec0（8hr 磁碟量）→ M1 擷取 CPU 優化 + 影片驗收 → M6 隱私最終審查 → V1 收官 → V2 Listen 開工。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6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誠實清單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已知的風險與缺陷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列出來不是為了免責，是因為知道哪裡不確定本身就是進度。前兩條是寫在設計文件裡、後來被真機推翻的假設。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564026" cy="1700784"/>
          </a:xfrm>
          <a:prstGeom prst="roundRect">
            <a:avLst>
              <a:gd name="adj" fmla="val 2688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487168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7A47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XPC 買到的不是權限降級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35808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原本假設 service 跑在低權 user——做不到。內嵌 XPC service 必然與主 app 同 uid（實測 euid 501）。真正的圍籬來自 sbpl。記為殘餘風險 R5。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3834" y="2286000"/>
            <a:ext cx="3564026" cy="1700784"/>
          </a:xfrm>
          <a:prstGeom prst="roundRect">
            <a:avLst>
              <a:gd name="adj" fmla="val 2688"/>
            </a:avLst>
          </a:prstGeom>
          <a:solidFill>
            <a:srgbClr val="F6ECD9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1578" y="2487168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7A47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會編故事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3035808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終端機標題被 3B 腦補成「與 CoPartner 進行視訊會議」——日誌裡沒有任何視訊訊號。指令已明寫禁止臆測，3B 壓不住。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0741" y="2286000"/>
            <a:ext cx="3564026" cy="1700784"/>
          </a:xfrm>
          <a:prstGeom prst="roundRect">
            <a:avLst>
              <a:gd name="adj" fmla="val 2688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8485" y="2487168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 vec0 磁碟量未驗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98485" y="3035808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盲寫風險低，但要裝 sqlite-vec 並跑滿 8 小時才知道磁碟量。step 36 專門驗這件事。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3564026" cy="1700784"/>
          </a:xfrm>
          <a:prstGeom prst="roundRect">
            <a:avLst>
              <a:gd name="adj" fmla="val 2688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370832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擷取仍是固定 2fps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919472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每幀 hash 全螢幕；DYNAMIC 狀態機已測但還沒拿來降頻。step 23.5 是刻意延後，不是遺漏。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13834" y="4169664"/>
            <a:ext cx="3564026" cy="1700784"/>
          </a:xfrm>
          <a:prstGeom prst="roundRect">
            <a:avLst>
              <a:gd name="adj" fmla="val 2688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1578" y="4370832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app 內換視窗仍記 FOCUS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51578" y="4919472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 CI 測試蓋到，dogfood 沒驗到。下次開兩個終端機視窗切一下就能補驗。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0741" y="4169664"/>
            <a:ext cx="3564026" cy="1700784"/>
          </a:xfrm>
          <a:prstGeom prst="roundRect">
            <a:avLst>
              <a:gd name="adj" fmla="val 2688"/>
            </a:avLst>
          </a:prstGeom>
          <a:solidFill>
            <a:srgbClr val="EDEFEE"/>
          </a:solidFill>
          <a:ln w="9525">
            <a:solidFill>
              <a:srgbClr val="D2D8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8485" y="4370832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單人開發、V2+V3 約一年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98485" y="4919472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緩解方式是每一版都設計成「該版結束即有完整可用產品」，不是半成品接力。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66928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3" name="Shape 1"/>
          <p:cNvSpPr/>
          <p:nvPr/>
        </p:nvSpPr>
        <p:spPr>
          <a:xfrm>
            <a:off x="10076688" y="566928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4" name="Shape 2"/>
          <p:cNvSpPr/>
          <p:nvPr/>
        </p:nvSpPr>
        <p:spPr>
          <a:xfrm>
            <a:off x="10460736" y="566928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5" name="Shape 3"/>
          <p:cNvSpPr/>
          <p:nvPr/>
        </p:nvSpPr>
        <p:spPr>
          <a:xfrm>
            <a:off x="10844784" y="566928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950976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7" name="Shape 5"/>
          <p:cNvSpPr/>
          <p:nvPr/>
        </p:nvSpPr>
        <p:spPr>
          <a:xfrm>
            <a:off x="10076688" y="950976"/>
            <a:ext cx="310896" cy="310896"/>
          </a:xfrm>
          <a:prstGeom prst="roundRect">
            <a:avLst>
              <a:gd name="adj" fmla="val 5882"/>
            </a:avLst>
          </a:prstGeom>
          <a:solidFill>
            <a:srgbClr val="E0A249"/>
          </a:solidFill>
          <a:ln/>
        </p:spPr>
      </p:sp>
      <p:sp>
        <p:nvSpPr>
          <p:cNvPr id="8" name="Shape 6"/>
          <p:cNvSpPr/>
          <p:nvPr/>
        </p:nvSpPr>
        <p:spPr>
          <a:xfrm>
            <a:off x="10460736" y="950976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9" name="Shape 7"/>
          <p:cNvSpPr/>
          <p:nvPr/>
        </p:nvSpPr>
        <p:spPr>
          <a:xfrm>
            <a:off x="10844784" y="950976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1335024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1335024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60736" y="1335024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44784" y="1335024"/>
            <a:ext cx="310896" cy="310896"/>
          </a:xfrm>
          <a:prstGeom prst="roundRect">
            <a:avLst>
              <a:gd name="adj" fmla="val 5882"/>
            </a:avLst>
          </a:prstGeom>
          <a:solidFill>
            <a:srgbClr val="2027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0A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96926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它已經會看了。它已經會動了。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166420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接下來是讓它離開電腦。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0624" y="2304288"/>
            <a:ext cx="11350447" cy="621792"/>
          </a:xfrm>
          <a:prstGeom prst="roundRect">
            <a:avLst>
              <a:gd name="adj" fmla="val 7353"/>
            </a:avLst>
          </a:prstGeom>
          <a:solidFill>
            <a:srgbClr val="2E241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2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CoPartner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670048" y="2377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 ambient 助理：看螢幕、寫劇本、熱鍵交棒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156448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2026-12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802368" y="2514600"/>
            <a:ext cx="1188720" cy="91440"/>
          </a:xfrm>
          <a:prstGeom prst="roundRect">
            <a:avLst>
              <a:gd name="adj" fmla="val 50000"/>
            </a:avLst>
          </a:prstGeom>
          <a:solidFill>
            <a:srgbClr val="2A333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082528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0906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3090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670048" y="3090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全日音訊 → 生活劇本；訊息閘道讓互動隨身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56448" y="3090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2027-01 → 05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802368" y="3227832"/>
            <a:ext cx="1188720" cy="91440"/>
          </a:xfrm>
          <a:prstGeom prst="roundRect">
            <a:avLst>
              <a:gd name="adj" fmla="val 50000"/>
            </a:avLst>
          </a:prstGeom>
          <a:solidFill>
            <a:srgbClr val="2A3335"/>
          </a:solidFill>
          <a:ln/>
        </p:spPr>
      </p:sp>
      <p:sp>
        <p:nvSpPr>
          <p:cNvPr id="29" name="Shape 27"/>
          <p:cNvSpPr/>
          <p:nvPr/>
        </p:nvSpPr>
        <p:spPr>
          <a:xfrm>
            <a:off x="9802368" y="3227832"/>
            <a:ext cx="356616" cy="91440"/>
          </a:xfrm>
          <a:prstGeom prst="roundRect">
            <a:avLst>
              <a:gd name="adj" fmla="val 50000"/>
            </a:avLst>
          </a:prstGeom>
          <a:solidFill>
            <a:srgbClr val="E0A24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082528" y="30906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803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70432" y="38039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670048" y="38039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技能引擎、heartbeat 主動巡檢、手機／手錶衛星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156448" y="38039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2027-06 → 11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802368" y="3941064"/>
            <a:ext cx="1188720" cy="91440"/>
          </a:xfrm>
          <a:prstGeom prst="roundRect">
            <a:avLst>
              <a:gd name="adj" fmla="val 50000"/>
            </a:avLst>
          </a:prstGeom>
          <a:solidFill>
            <a:srgbClr val="2A3335"/>
          </a:solidFill>
          <a:ln/>
        </p:spPr>
      </p:sp>
      <p:sp>
        <p:nvSpPr>
          <p:cNvPr id="36" name="Shape 34"/>
          <p:cNvSpPr/>
          <p:nvPr/>
        </p:nvSpPr>
        <p:spPr>
          <a:xfrm>
            <a:off x="9802368" y="3941064"/>
            <a:ext cx="832104" cy="91440"/>
          </a:xfrm>
          <a:prstGeom prst="roundRect">
            <a:avLst>
              <a:gd name="adj" fmla="val 50000"/>
            </a:avLst>
          </a:prstGeom>
          <a:solidFill>
            <a:srgbClr val="E0A24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082528" y="3803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70%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171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70432" y="45171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2670048" y="45171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穿戴優先：眼鏡、墜飾、即時耳語協助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156448" y="45171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2028+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802368" y="4654296"/>
            <a:ext cx="1188720" cy="91440"/>
          </a:xfrm>
          <a:prstGeom prst="roundRect">
            <a:avLst>
              <a:gd name="adj" fmla="val 50000"/>
            </a:avLst>
          </a:prstGeom>
          <a:solidFill>
            <a:srgbClr val="2A3335"/>
          </a:solidFill>
          <a:ln/>
        </p:spPr>
      </p:sp>
      <p:sp>
        <p:nvSpPr>
          <p:cNvPr id="43" name="Shape 41"/>
          <p:cNvSpPr/>
          <p:nvPr/>
        </p:nvSpPr>
        <p:spPr>
          <a:xfrm>
            <a:off x="9802368" y="4654296"/>
            <a:ext cx="1188720" cy="91440"/>
          </a:xfrm>
          <a:prstGeom prst="roundRect">
            <a:avLst>
              <a:gd name="adj" fmla="val 50000"/>
            </a:avLst>
          </a:prstGeom>
          <a:solidFill>
            <a:srgbClr val="E0A24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1082528" y="45171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32180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右欄是「跳出電腦的程度」。貫穿每一版的架構是 Hub-and-Satellites：Mac mini 永遠是中樞，手機手錶眼鏡都是衛星——不存資料、不做重推理，所以「本地優先、敏感不出境」在每一版都成立。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2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助理的瓶頸不是模型有多聰明，是它知不知道你在幹嘛。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CoPartner 進度全景</dc:title>
  <dc:subject>PptxGenJS Presentation</dc:subject>
  <dc:creator>CoPartner</dc:creator>
  <cp:lastModifiedBy>CoPartner</cp:lastModifiedBy>
  <cp:revision>1</cp:revision>
  <dcterms:created xsi:type="dcterms:W3CDTF">2026-09-03T15:54:41Z</dcterms:created>
  <dcterms:modified xsi:type="dcterms:W3CDTF">2026-09-03T15:54:41Z</dcterms:modified>
</cp:coreProperties>
</file>